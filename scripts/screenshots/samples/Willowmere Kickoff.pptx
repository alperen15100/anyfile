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D8EA"/>
                </a:solidFill>
                <a:latin typeface="Calibri"/>
              </a:rPr>
              <a:t>HARROWGATE FIELD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F3A5F"/>
                </a:solidFill>
                <a:latin typeface="Calibri"/>
              </a:rPr>
              <a:t>Willowmere Phase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E8B84"/>
                </a:solidFill>
                <a:latin typeface="Calibri"/>
              </a:rPr>
              <a:t>Project kickoff  ·  contract WM-2026-114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86200"/>
            <a:ext cx="2926080" cy="54864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251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5A5A"/>
                </a:solidFill>
                <a:latin typeface="Calibri"/>
              </a:rPr>
              <a:t>46 hectares of restored grazing marsh, 1.9 km of reprofiled ditch, and a delivery window that closes on 31 March 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Calibri"/>
              </a:rPr>
              <a:t>6 August 2026   ·   Prepared for the Willowmere steering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Calibri"/>
              </a:rPr>
              <a:t>Where Phase 2 leaves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371600"/>
            <a:ext cx="2377440" cy="45720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Reed establishment reached 74%, against a 60% target</a:t>
            </a:r>
          </a:p>
          <a:p>
            <a:pPr>
              <a:spcAft>
                <a:spcPts val="17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Standing water held through a 19-day dry spell</a:t>
            </a:r>
          </a:p>
          <a:p>
            <a:pPr>
              <a:spcAft>
                <a:spcPts val="17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Breeding waders returned to compartment 2</a:t>
            </a:r>
          </a:p>
          <a:p>
            <a:pPr>
              <a:spcAft>
                <a:spcPts val="17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Silt from the northern culvert is 2.4× the modelled rate</a:t>
            </a:r>
          </a:p>
          <a:p>
            <a:pPr>
              <a:spcAft>
                <a:spcPts val="17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Bank slumping at chainage 0+840 needs regrading</a:t>
            </a:r>
          </a:p>
          <a:p>
            <a:pPr>
              <a:spcAft>
                <a:spcPts val="17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 No invasive species found inside the boundary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783080"/>
            <a:ext cx="411480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783080"/>
            <a:ext cx="82296" cy="960120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856231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74%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313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reed cover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2898648"/>
            <a:ext cx="411480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2898648"/>
            <a:ext cx="82296" cy="960120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46.3 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429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surveyed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014215"/>
            <a:ext cx="411480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4014215"/>
            <a:ext cx="82296" cy="960120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0873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5445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survey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5129784"/>
            <a:ext cx="411480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5129784"/>
            <a:ext cx="82296" cy="960120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520293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2.4×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6601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silt 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Calibri"/>
              </a:rPr>
              <a:t>Phase 3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71600"/>
            <a:ext cx="2377440" cy="45720"/>
          </a:xfrm>
          <a:prstGeom prst="rect">
            <a:avLst/>
          </a:prstGeom>
          <a:solidFill>
            <a:srgbClr val="2E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7451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10515600" cy="7132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871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84"/>
                </a:solidFill>
                <a:latin typeface="Calibri"/>
              </a:rPr>
              <a:t>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87168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Bank regrade and reseed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4871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Site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84"/>
                </a:solidFill>
                <a:latin typeface="Calibri"/>
              </a:rPr>
              <a:t>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Settlement pocket enlarged, silt trap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Contractor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58183"/>
            <a:ext cx="10515600" cy="7132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13631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84"/>
                </a:solidFill>
                <a:latin typeface="Calibri"/>
              </a:rPr>
              <a:t>Dec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13631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Winter water-level regime signed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913631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Hydrology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268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84"/>
                </a:solidFill>
                <a:latin typeface="Calibri"/>
              </a:rPr>
              <a:t>Feb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626864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Eastern dipwell network extended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6268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Survey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184648"/>
            <a:ext cx="10515600" cy="7132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4009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84"/>
                </a:solidFill>
                <a:latin typeface="Calibri"/>
              </a:rPr>
              <a:t>Mar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3400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Phase 3 handover and final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534009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